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exact problem statement and team identity. Introduce NiyamLens as an evidence-grade inspection assistant, not an autonomous enforcement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is not an OCR wrapper. Show the real prototype screen, then walk through guided evidence, hybrid OCR, deterministic rules and calibrated abstention.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system as a six-stage evidence pipeline. Keep capture, OCR and legal evaluation separate. Emphasize that cloud OCR is optional and explicit, while the core inspection path remains local-first.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what already works, then show the explicit boundaries. Each major risk has a built safeguard. Do not describe the ten-photo OCR pilot as field accuracy or claim regulatory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user group to a concrete artifact already visible in the prototype. Avoid unmeasured percentage claims. The primary benefit is safer, explainable and auditable triage.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measured evidence and primary sources. Standard local token recall is 61.1%; deep scan is 67.5% on the same 17 declaration-panel photos from ten products. The 93.7% number is a precomputed cloud baseline, not live NiyamLens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onsumeraffairs.gov.in/public/upload/admin/cmsfiles/whatsnews/Book_on_Legal_Metrology_Packaged_Commodities_Rules%2C2011_with_all_amendments_whatsnews.pdf" TargetMode="External"/><Relationship Id="rId2" Type="http://schemas.openxmlformats.org/officeDocument/2006/relationships/hyperlink" Target="https://consumeraffairs.gov.in/pages/legal-metrology-act" TargetMode="External"/><Relationship Id="rId3" Type="http://schemas.openxmlformats.org/officeDocument/2006/relationships/hyperlink" Target="https://consumeraffairs.gov.in/public/upload/admin/cmsfiles/whatsnews/FAQs_on_Packaged_Commodities%2C_Rules_2011_whatsnews.pdf" TargetMode="External"/><Relationship Id="rId4" Type="http://schemas.openxmlformats.org/officeDocument/2006/relationships/hyperlink" Target="https://openfoodfacts.github.io/openfoodfacts-server/api/" TargetMode="External"/><Relationship Id="rId5" Type="http://schemas.openxmlformats.org/officeDocument/2006/relationships/hyperlink" Target="https://docs.cloud.google.com/vision/docs/ocr" TargetMode="External"/><Relationship Id="rId6" Type="http://schemas.openxmlformats.org/officeDocument/2006/relationships/hyperlink" Target="https://github.com/DuvvuruDeepakReddy18/NiyamLens-SIH26034" TargetMode="External"/><Relationship Id="rId7" Type="http://schemas.openxmlformats.org/officeDocument/2006/relationships/image" Target="../media/image-6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109728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35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150" dirty="0"/>
          </a:p>
        </p:txBody>
      </p:sp>
      <p:pic>
        <p:nvPicPr>
          <p:cNvPr id="3" name="Image 0" descr="C:\Users\duvvu\Documents\ChatGPT\SIH 2026\niyamlens\docs\sih-template-assets\sih-2026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18288"/>
            <a:ext cx="2267712" cy="8869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1051560"/>
            <a:ext cx="3886200" cy="4956048"/>
          </a:xfrm>
          <a:prstGeom prst="hexagon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27648" y="960120"/>
            <a:ext cx="1874520" cy="2194560"/>
          </a:xfrm>
          <a:prstGeom prst="hexagon">
            <a:avLst/>
          </a:prstGeom>
          <a:solidFill>
            <a:srgbClr val="FFFFFF">
              <a:alpha val="0"/>
            </a:srgbClr>
          </a:solidFill>
          <a:ln w="50800">
            <a:solidFill>
              <a:srgbClr val="E9E9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23560" y="3913632"/>
            <a:ext cx="1024128" cy="1298448"/>
          </a:xfrm>
          <a:prstGeom prst="hexagon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pic>
        <p:nvPicPr>
          <p:cNvPr id="7" name="Image 1" descr="C:\Users\duvvu\Documents\ChatGPT\SIH 2026\niyamlens\docs\sih-template-assets\sih-2026-water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810512"/>
            <a:ext cx="2926080" cy="40050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3504" y="1051560"/>
            <a:ext cx="5577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NIYAMLENS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21792" y="15819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35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Evidence-grade packaged commodity inspection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03504" y="2240280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4672" y="2139696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SIH26034</a:t>
            </a:r>
            <a:endParaRPr lang="en-US" sz="1520" dirty="0"/>
          </a:p>
        </p:txBody>
      </p:sp>
      <p:sp>
        <p:nvSpPr>
          <p:cNvPr id="12" name="Shape 8"/>
          <p:cNvSpPr/>
          <p:nvPr/>
        </p:nvSpPr>
        <p:spPr>
          <a:xfrm>
            <a:off x="603504" y="2862072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2761488"/>
            <a:ext cx="5897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</a:t>
            </a:r>
            <a:pPr indent="0" marL="0">
              <a:buNone/>
            </a:pPr>
            <a:r>
              <a:rPr lang="en-US" sz="13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System to check compliance of Packaged Commodities under Legal Metrology (Packaged Commodities) Rules, 2011 by scanning products, images and labels.</a:t>
            </a:r>
            <a:endParaRPr lang="en-US" sz="1330" dirty="0"/>
          </a:p>
        </p:txBody>
      </p:sp>
      <p:sp>
        <p:nvSpPr>
          <p:cNvPr id="14" name="Shape 10"/>
          <p:cNvSpPr/>
          <p:nvPr/>
        </p:nvSpPr>
        <p:spPr>
          <a:xfrm>
            <a:off x="603504" y="3794760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" y="3694176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</a:t>
            </a:r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Agriculture, FoodTech &amp; Rural Development</a:t>
            </a:r>
            <a:endParaRPr lang="en-US" sz="1520" dirty="0"/>
          </a:p>
        </p:txBody>
      </p:sp>
      <p:sp>
        <p:nvSpPr>
          <p:cNvPr id="16" name="Shape 12"/>
          <p:cNvSpPr/>
          <p:nvPr/>
        </p:nvSpPr>
        <p:spPr>
          <a:xfrm>
            <a:off x="603504" y="4416552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4672" y="431596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</a:t>
            </a:r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520" dirty="0"/>
          </a:p>
        </p:txBody>
      </p:sp>
      <p:sp>
        <p:nvSpPr>
          <p:cNvPr id="18" name="Shape 14"/>
          <p:cNvSpPr/>
          <p:nvPr/>
        </p:nvSpPr>
        <p:spPr>
          <a:xfrm>
            <a:off x="603504" y="5038344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4672" y="493776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</a:t>
            </a:r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allocation pending</a:t>
            </a:r>
            <a:endParaRPr lang="en-US" sz="1520" dirty="0"/>
          </a:p>
        </p:txBody>
      </p:sp>
      <p:sp>
        <p:nvSpPr>
          <p:cNvPr id="20" name="Shape 16"/>
          <p:cNvSpPr/>
          <p:nvPr/>
        </p:nvSpPr>
        <p:spPr>
          <a:xfrm>
            <a:off x="603504" y="5660136"/>
            <a:ext cx="91440" cy="914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4672" y="555955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– </a:t>
            </a:r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NiyamLens</a:t>
            </a:r>
            <a:endParaRPr lang="en-US" sz="1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73152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NIYAMLENS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78B8"/>
          </a:solidFill>
          <a:ln w="12700">
            <a:solidFill>
              <a:srgbClr val="0B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64830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5448" y="822960"/>
            <a:ext cx="210312" cy="210312"/>
          </a:xfrm>
          <a:prstGeom prst="diamond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58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235A8B"/>
                </a:solidFill>
                <a:uFill>
                  <a:solidFill>
                    <a:srgbClr val="235A8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/ Approach</a:t>
            </a:r>
            <a:endParaRPr lang="en-US" sz="2150" dirty="0"/>
          </a:p>
        </p:txBody>
      </p:sp>
      <p:sp>
        <p:nvSpPr>
          <p:cNvPr id="8" name="Shape 6"/>
          <p:cNvSpPr/>
          <p:nvPr/>
        </p:nvSpPr>
        <p:spPr>
          <a:xfrm>
            <a:off x="365760" y="1252728"/>
            <a:ext cx="3840480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5F6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444752"/>
            <a:ext cx="3364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5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image to defensible evidence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1792" y="1993392"/>
            <a:ext cx="118872" cy="1188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2024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capture: </a:t>
            </a:r>
            <a:pPr indent="0" marL="0">
              <a:buNone/>
            </a:pPr>
            <a:r>
              <a:rPr lang="en-US" sz="12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back, side and declaration panels; quality checks and original SHA-256.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2798064"/>
            <a:ext cx="118872" cy="118872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24912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OCR: </a:t>
            </a:r>
            <a:pPr indent="0" marL="0">
              <a:buNone/>
            </a:pPr>
            <a:r>
              <a:rPr lang="en-US" sz="12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Three-pass local scan, seven-pass deep scan and an explicit connected-OCR option.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" y="3602736"/>
            <a:ext cx="118872" cy="118872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2958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Rules-as-code: </a:t>
            </a:r>
            <a:pPr indent="0" marL="0">
              <a:buNone/>
            </a:pPr>
            <a:r>
              <a:rPr lang="en-US" sz="12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6 declarations, Rule 7 Table-I typography and Rule 26 exemptions.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4407408"/>
            <a:ext cx="118872" cy="118872"/>
          </a:xfrm>
          <a:prstGeom prst="ellipse">
            <a:avLst/>
          </a:prstGeom>
          <a:solidFill>
            <a:srgbClr val="D51F26"/>
          </a:solidFill>
          <a:ln w="12700">
            <a:solidFill>
              <a:srgbClr val="D51F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34256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verdict: </a:t>
            </a:r>
            <a:pPr indent="0" marL="0">
              <a:buNone/>
            </a:pPr>
            <a:r>
              <a:rPr lang="en-US" sz="12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PASS, FLAG, REVIEW or EXEMPT with source regions, uncertainty and officer audit.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" y="5102352"/>
            <a:ext cx="3364992" cy="384048"/>
          </a:xfrm>
          <a:prstGeom prst="roundRect">
            <a:avLst/>
          </a:prstGeom>
          <a:solidFill>
            <a:srgbClr val="E7F2FA"/>
          </a:solidFill>
          <a:ln w="10160">
            <a:solidFill>
              <a:srgbClr val="235A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17550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5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proposes evidence. Rules and officers decide.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25696" y="1252728"/>
            <a:ext cx="7388352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5F6A70"/>
            </a:solidFill>
            <a:prstDash val="solid"/>
          </a:ln>
        </p:spPr>
      </p:sp>
      <p:pic>
        <p:nvPicPr>
          <p:cNvPr id="21" name="Image 0" descr="C:\Users\duvvu\Documents\ChatGPT\SIH 2026\niyamlens\docs\sih-template-assets\ocr-verdict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0288" y="1435608"/>
            <a:ext cx="7059168" cy="34564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0" y="4965192"/>
            <a:ext cx="7114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35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PROTOTYPE: OCR + STRUCTURED EVIDENCE + RULE VERDICT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4626864" y="5266944"/>
            <a:ext cx="1572768" cy="621792"/>
          </a:xfrm>
          <a:prstGeom prst="roundRect">
            <a:avLst/>
          </a:prstGeom>
          <a:solidFill>
            <a:srgbClr val="FDE9D7"/>
          </a:solidFill>
          <a:ln w="10160">
            <a:solidFill>
              <a:srgbClr val="F582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0016" y="53400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700016" y="55229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Unseen-packet test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6373368" y="5266944"/>
            <a:ext cx="1572768" cy="621792"/>
          </a:xfrm>
          <a:prstGeom prst="roundRect">
            <a:avLst/>
          </a:prstGeom>
          <a:solidFill>
            <a:srgbClr val="E3F3E9"/>
          </a:solidFill>
          <a:ln w="10160">
            <a:solidFill>
              <a:srgbClr val="138B4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53400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8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46520" y="55229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Area-tier uncertainty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8119872" y="5266944"/>
            <a:ext cx="1572768" cy="621792"/>
          </a:xfrm>
          <a:prstGeom prst="roundRect">
            <a:avLst/>
          </a:prstGeom>
          <a:solidFill>
            <a:srgbClr val="FDE9D7"/>
          </a:solidFill>
          <a:ln w="10160">
            <a:solidFill>
              <a:srgbClr val="F582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93024" y="53400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193024" y="55229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26 carve-outs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9866376" y="5266944"/>
            <a:ext cx="1572768" cy="621792"/>
          </a:xfrm>
          <a:prstGeom prst="roundRect">
            <a:avLst/>
          </a:prstGeom>
          <a:solidFill>
            <a:srgbClr val="E3F3E9"/>
          </a:solidFill>
          <a:ln w="10160">
            <a:solidFill>
              <a:srgbClr val="138B4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939528" y="53400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8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9939528" y="55229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abstention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457200" y="5998464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i="1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only; Legal Metrology officer verification remains explicit.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310896" y="36576"/>
            <a:ext cx="1307592" cy="85953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8064A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9768" y="28346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NiyamLens</a:t>
            </a:r>
            <a:endParaRPr lang="en-US" sz="1250" dirty="0"/>
          </a:p>
        </p:txBody>
      </p:sp>
      <p:pic>
        <p:nvPicPr>
          <p:cNvPr id="38" name="Image 1" descr="C:\Users\duvvu\Documents\ChatGPT\SIH 2026\niyamlens\docs\sih-template-assets\sih-2026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18288"/>
            <a:ext cx="2267712" cy="8869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73152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78B8"/>
          </a:solidFill>
          <a:ln w="12700">
            <a:solidFill>
              <a:srgbClr val="0B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64830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6888" y="941832"/>
            <a:ext cx="1664208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35A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14984"/>
            <a:ext cx="310896" cy="310896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60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panels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+ hash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1947672" y="1362456"/>
            <a:ext cx="219456" cy="356616"/>
          </a:xfrm>
          <a:prstGeom prst="chevron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03704" y="941832"/>
            <a:ext cx="1664208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8B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76856" y="1014984"/>
            <a:ext cx="310896" cy="310896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6856" y="1060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22576" y="14081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22576" y="16642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/ deep /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OCR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3904488" y="1362456"/>
            <a:ext cx="219456" cy="356616"/>
          </a:xfrm>
          <a:prstGeom prst="chevron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941832"/>
            <a:ext cx="1664208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82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672" y="1014984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1060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79392" y="14081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79392" y="16642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MRP • quantity •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• entity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861304" y="1362456"/>
            <a:ext cx="219456" cy="356616"/>
          </a:xfrm>
          <a:prstGeom prst="chevron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7336" y="941832"/>
            <a:ext cx="1664208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35A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1014984"/>
            <a:ext cx="310896" cy="310896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1060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36208" y="14081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36208" y="16642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homography +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uncertainty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818120" y="1362456"/>
            <a:ext cx="219456" cy="356616"/>
          </a:xfrm>
          <a:prstGeom prst="chevron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941832"/>
            <a:ext cx="1664208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1F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47304" y="1014984"/>
            <a:ext cx="310896" cy="310896"/>
          </a:xfrm>
          <a:prstGeom prst="ellipse">
            <a:avLst/>
          </a:prstGeom>
          <a:solidFill>
            <a:srgbClr val="D51F26"/>
          </a:solidFill>
          <a:ln w="12700">
            <a:solidFill>
              <a:srgbClr val="D51F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7304" y="1060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193024" y="14081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93024" y="16642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Rule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 / 26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9774936" y="1362456"/>
            <a:ext cx="219456" cy="356616"/>
          </a:xfrm>
          <a:prstGeom prst="chevron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30968" y="941832"/>
            <a:ext cx="1664208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8B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04120" y="1014984"/>
            <a:ext cx="310896" cy="310896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04120" y="1060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149840" y="14081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149840" y="16642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chain +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347472" y="2487168"/>
            <a:ext cx="3529584" cy="2852928"/>
          </a:xfrm>
          <a:prstGeom prst="rect">
            <a:avLst/>
          </a:prstGeom>
          <a:solidFill>
            <a:srgbClr val="E7F2FA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35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1 — BROWSER PWA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603504" y="3136392"/>
            <a:ext cx="100584" cy="10058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30449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603504" y="3611880"/>
            <a:ext cx="100584" cy="10058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3520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rectification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603504" y="4087368"/>
            <a:ext cx="100584" cy="10058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39959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Tesseract.js bundled OCR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603504" y="4562856"/>
            <a:ext cx="100584" cy="10058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44714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offline service worker</a:t>
            </a:r>
            <a:endParaRPr lang="en-US" sz="1160" dirty="0"/>
          </a:p>
        </p:txBody>
      </p:sp>
      <p:sp>
        <p:nvSpPr>
          <p:cNvPr id="51" name="Shape 49"/>
          <p:cNvSpPr/>
          <p:nvPr/>
        </p:nvSpPr>
        <p:spPr>
          <a:xfrm>
            <a:off x="4160520" y="2487168"/>
            <a:ext cx="3529584" cy="2852928"/>
          </a:xfrm>
          <a:prstGeom prst="rect">
            <a:avLst/>
          </a:prstGeom>
          <a:solidFill>
            <a:srgbClr val="E3F3E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25112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38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2 — TRUST + RULE LAYER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4416552" y="3136392"/>
            <a:ext cx="100584" cy="100584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30449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evidence integrity</a:t>
            </a:r>
            <a:endParaRPr lang="en-US" sz="1160" dirty="0"/>
          </a:p>
        </p:txBody>
      </p:sp>
      <p:sp>
        <p:nvSpPr>
          <p:cNvPr id="55" name="Shape 53"/>
          <p:cNvSpPr/>
          <p:nvPr/>
        </p:nvSpPr>
        <p:spPr>
          <a:xfrm>
            <a:off x="4416552" y="3611880"/>
            <a:ext cx="100584" cy="100584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3520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local register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4416552" y="4087368"/>
            <a:ext cx="100584" cy="100584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39959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versioned matrix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4416552" y="4562856"/>
            <a:ext cx="100584" cy="100584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17720" y="44714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outcome + officer disposition</a:t>
            </a:r>
            <a:endParaRPr lang="en-US" sz="1160" dirty="0"/>
          </a:p>
        </p:txBody>
      </p:sp>
      <p:sp>
        <p:nvSpPr>
          <p:cNvPr id="61" name="Shape 59"/>
          <p:cNvSpPr/>
          <p:nvPr/>
        </p:nvSpPr>
        <p:spPr>
          <a:xfrm>
            <a:off x="7973568" y="2487168"/>
            <a:ext cx="3529584" cy="2852928"/>
          </a:xfrm>
          <a:prstGeom prst="rect">
            <a:avLst/>
          </a:prstGeom>
          <a:solidFill>
            <a:srgbClr val="FDE9D7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3816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3 — OPTIONAL SERVICE</a:t>
            </a:r>
            <a:endParaRPr lang="en-US" sz="1320" dirty="0"/>
          </a:p>
        </p:txBody>
      </p:sp>
      <p:sp>
        <p:nvSpPr>
          <p:cNvPr id="63" name="Shape 61"/>
          <p:cNvSpPr/>
          <p:nvPr/>
        </p:nvSpPr>
        <p:spPr>
          <a:xfrm>
            <a:off x="8229600" y="3136392"/>
            <a:ext cx="100584" cy="100584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30768" y="30449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connected-OCR action</a:t>
            </a:r>
            <a:endParaRPr lang="en-US" sz="1160" dirty="0"/>
          </a:p>
        </p:txBody>
      </p:sp>
      <p:sp>
        <p:nvSpPr>
          <p:cNvPr id="65" name="Shape 63"/>
          <p:cNvSpPr/>
          <p:nvPr/>
        </p:nvSpPr>
        <p:spPr>
          <a:xfrm>
            <a:off x="8229600" y="3611880"/>
            <a:ext cx="100584" cy="100584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30768" y="3520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serverless function</a:t>
            </a:r>
            <a:endParaRPr lang="en-US" sz="1160" dirty="0"/>
          </a:p>
        </p:txBody>
      </p:sp>
      <p:sp>
        <p:nvSpPr>
          <p:cNvPr id="67" name="Shape 65"/>
          <p:cNvSpPr/>
          <p:nvPr/>
        </p:nvSpPr>
        <p:spPr>
          <a:xfrm>
            <a:off x="8229600" y="4087368"/>
            <a:ext cx="100584" cy="100584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30768" y="39959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Vision key stays server-side</a:t>
            </a:r>
            <a:endParaRPr lang="en-US" sz="1160" dirty="0"/>
          </a:p>
        </p:txBody>
      </p:sp>
      <p:sp>
        <p:nvSpPr>
          <p:cNvPr id="69" name="Shape 67"/>
          <p:cNvSpPr/>
          <p:nvPr/>
        </p:nvSpPr>
        <p:spPr>
          <a:xfrm>
            <a:off x="8229600" y="4562856"/>
            <a:ext cx="100584" cy="100584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30768" y="44714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flow remains complete offline</a:t>
            </a:r>
            <a:endParaRPr lang="en-US" sz="1160" dirty="0"/>
          </a:p>
        </p:txBody>
      </p:sp>
      <p:sp>
        <p:nvSpPr>
          <p:cNvPr id="71" name="Shape 69"/>
          <p:cNvSpPr/>
          <p:nvPr/>
        </p:nvSpPr>
        <p:spPr>
          <a:xfrm>
            <a:off x="347472" y="5541264"/>
            <a:ext cx="111556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F6A7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56509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35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/ TECHNOLOGY STACK</a:t>
            </a:r>
            <a:endParaRPr lang="en-US" sz="1070" dirty="0"/>
          </a:p>
        </p:txBody>
      </p:sp>
      <p:sp>
        <p:nvSpPr>
          <p:cNvPr id="73" name="Text 71"/>
          <p:cNvSpPr/>
          <p:nvPr/>
        </p:nvSpPr>
        <p:spPr>
          <a:xfrm>
            <a:off x="2907792" y="5650992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  •   Vite   •   Canvas API   •   Tesseract.js   •   Web Crypto   •   IndexedDB   •   Playwright   •   Vercel</a:t>
            </a:r>
            <a:endParaRPr lang="en-US" sz="1120" dirty="0"/>
          </a:p>
        </p:txBody>
      </p:sp>
      <p:sp>
        <p:nvSpPr>
          <p:cNvPr id="74" name="Shape 72"/>
          <p:cNvSpPr/>
          <p:nvPr/>
        </p:nvSpPr>
        <p:spPr>
          <a:xfrm>
            <a:off x="310896" y="36576"/>
            <a:ext cx="1307592" cy="85953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8064A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9768" y="28346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NiyamLens</a:t>
            </a:r>
            <a:endParaRPr lang="en-US" sz="1250" dirty="0"/>
          </a:p>
        </p:txBody>
      </p:sp>
      <p:pic>
        <p:nvPicPr>
          <p:cNvPr id="76" name="Image 0" descr="C:\Users\duvvu\Documents\ChatGPT\SIH 2026\niyamlens\docs\sih-template-assets\sih-2026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18288"/>
            <a:ext cx="2267712" cy="886968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1828800" y="73152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78" name="Shape 75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78B8"/>
          </a:solidFill>
          <a:ln w="12700">
            <a:solidFill>
              <a:srgbClr val="0B78B8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3840480" y="64830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0" name="Text 77"/>
          <p:cNvSpPr/>
          <p:nvPr/>
        </p:nvSpPr>
        <p:spPr>
          <a:xfrm>
            <a:off x="11274552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73152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78B8"/>
          </a:solidFill>
          <a:ln w="12700">
            <a:solidFill>
              <a:srgbClr val="0B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64830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813816"/>
            <a:ext cx="38862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896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5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118872" cy="118872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25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implemented capabilities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118872" cy="118872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179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54/54 automated tests pass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65760" y="1883664"/>
            <a:ext cx="118872" cy="118872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 + browser QA pass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4142232" y="813816"/>
            <a:ext cx="38862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9392" y="896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8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Viability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06824" y="1298448"/>
            <a:ext cx="118872" cy="118872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225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+ bundled OCR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4306824" y="1591056"/>
            <a:ext cx="118872" cy="118872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15179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IndexedDB evidence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4306824" y="1883664"/>
            <a:ext cx="118872" cy="118872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 required for core flow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8083296" y="813816"/>
            <a:ext cx="38862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0456" y="896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Implementation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247888" y="1298448"/>
            <a:ext cx="118872" cy="1188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49056" y="1225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Random-packet Blind Challenge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8247888" y="1591056"/>
            <a:ext cx="118872" cy="1188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15179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Vercel-ready release candidate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8247888" y="1883664"/>
            <a:ext cx="118872" cy="1188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Field/legal approvals remain visible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201168" y="2450592"/>
            <a:ext cx="11768328" cy="37124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9048" y="2596896"/>
            <a:ext cx="0" cy="3364992"/>
          </a:xfrm>
          <a:prstGeom prst="line">
            <a:avLst/>
          </a:prstGeom>
          <a:noFill/>
          <a:ln w="12700">
            <a:solidFill>
              <a:srgbClr val="BFC5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26517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5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AND RISKS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09944" y="26517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8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OVERCOMING CHALLENGES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502920" y="3099816"/>
            <a:ext cx="310896" cy="310896"/>
          </a:xfrm>
          <a:prstGeom prst="ellipse">
            <a:avLst/>
          </a:prstGeom>
          <a:solidFill>
            <a:srgbClr val="D51F26"/>
          </a:solidFill>
          <a:ln w="12700">
            <a:solidFill>
              <a:srgbClr val="D51F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16382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41832" y="3081528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curved or glared text can reduce OCR recall.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82512" y="3099816"/>
            <a:ext cx="310896" cy="310896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316382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830568" y="308152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gates, retake guidance, deep tiles and optional connected OCR.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502920" y="3538728"/>
            <a:ext cx="5212080" cy="0"/>
          </a:xfrm>
          <a:prstGeom prst="line">
            <a:avLst/>
          </a:prstGeom>
          <a:noFill/>
          <a:ln w="6350">
            <a:solidFill>
              <a:srgbClr val="D7DB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82512" y="3538728"/>
            <a:ext cx="5166360" cy="0"/>
          </a:xfrm>
          <a:prstGeom prst="line">
            <a:avLst/>
          </a:prstGeom>
          <a:noFill/>
          <a:ln w="6350">
            <a:solidFill>
              <a:srgbClr val="D7DB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666744"/>
            <a:ext cx="310896" cy="310896"/>
          </a:xfrm>
          <a:prstGeom prst="ellipse">
            <a:avLst/>
          </a:prstGeom>
          <a:solidFill>
            <a:srgbClr val="D51F26"/>
          </a:solidFill>
          <a:ln w="12700">
            <a:solidFill>
              <a:srgbClr val="D51F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73075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41832" y="3648456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Panel-area or scale error can flip a font-size result.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82512" y="3666744"/>
            <a:ext cx="310896" cy="310896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373075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830568" y="364845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Homography, same-panel calibration and uncertainty → REVIEW.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502920" y="4105656"/>
            <a:ext cx="5212080" cy="0"/>
          </a:xfrm>
          <a:prstGeom prst="line">
            <a:avLst/>
          </a:prstGeom>
          <a:noFill/>
          <a:ln w="6350">
            <a:solidFill>
              <a:srgbClr val="D7DB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82512" y="4105656"/>
            <a:ext cx="5166360" cy="0"/>
          </a:xfrm>
          <a:prstGeom prst="line">
            <a:avLst/>
          </a:prstGeom>
          <a:noFill/>
          <a:ln w="6350">
            <a:solidFill>
              <a:srgbClr val="D7DB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" y="4233672"/>
            <a:ext cx="310896" cy="310896"/>
          </a:xfrm>
          <a:prstGeom prst="ellipse">
            <a:avLst/>
          </a:prstGeom>
          <a:solidFill>
            <a:srgbClr val="D51F26"/>
          </a:solidFill>
          <a:ln w="12700">
            <a:solidFill>
              <a:srgbClr val="D51F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29768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41832" y="4215384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Exemptions and amendments can change applicability.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382512" y="4233672"/>
            <a:ext cx="310896" cy="310896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429768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830568" y="4215384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rule pack, Rule 26 carve-outs and legal approval register.</a:t>
            </a:r>
            <a:endParaRPr lang="en-US" sz="1130" dirty="0"/>
          </a:p>
        </p:txBody>
      </p:sp>
      <p:sp>
        <p:nvSpPr>
          <p:cNvPr id="56" name="Shape 54"/>
          <p:cNvSpPr/>
          <p:nvPr/>
        </p:nvSpPr>
        <p:spPr>
          <a:xfrm>
            <a:off x="502920" y="4672584"/>
            <a:ext cx="5212080" cy="0"/>
          </a:xfrm>
          <a:prstGeom prst="line">
            <a:avLst/>
          </a:prstGeom>
          <a:noFill/>
          <a:ln w="6350">
            <a:solidFill>
              <a:srgbClr val="D7DB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82512" y="4672584"/>
            <a:ext cx="5166360" cy="0"/>
          </a:xfrm>
          <a:prstGeom prst="line">
            <a:avLst/>
          </a:prstGeom>
          <a:noFill/>
          <a:ln w="6350">
            <a:solidFill>
              <a:srgbClr val="D7DB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" y="4800600"/>
            <a:ext cx="310896" cy="310896"/>
          </a:xfrm>
          <a:prstGeom prst="ellipse">
            <a:avLst/>
          </a:prstGeom>
          <a:solidFill>
            <a:srgbClr val="D51F26"/>
          </a:solidFill>
          <a:ln w="12700">
            <a:solidFill>
              <a:srgbClr val="D51F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48646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941832" y="4782312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evidence may be offline or sensitive.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382512" y="4800600"/>
            <a:ext cx="310896" cy="310896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82512" y="48646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830568" y="4782312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OCR/storage, consent and encrypted evidence transfer.</a:t>
            </a:r>
            <a:endParaRPr lang="en-US" sz="1130" dirty="0"/>
          </a:p>
        </p:txBody>
      </p:sp>
      <p:sp>
        <p:nvSpPr>
          <p:cNvPr id="64" name="Shape 62"/>
          <p:cNvSpPr/>
          <p:nvPr/>
        </p:nvSpPr>
        <p:spPr>
          <a:xfrm>
            <a:off x="502920" y="5239512"/>
            <a:ext cx="5212080" cy="0"/>
          </a:xfrm>
          <a:prstGeom prst="line">
            <a:avLst/>
          </a:prstGeom>
          <a:noFill/>
          <a:ln w="6350">
            <a:solidFill>
              <a:srgbClr val="D7DB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82512" y="5239512"/>
            <a:ext cx="5166360" cy="0"/>
          </a:xfrm>
          <a:prstGeom prst="line">
            <a:avLst/>
          </a:prstGeom>
          <a:noFill/>
          <a:ln w="6350">
            <a:solidFill>
              <a:srgbClr val="D7DB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" y="5367528"/>
            <a:ext cx="310896" cy="310896"/>
          </a:xfrm>
          <a:prstGeom prst="ellipse">
            <a:avLst/>
          </a:prstGeom>
          <a:solidFill>
            <a:srgbClr val="D51F26"/>
          </a:solidFill>
          <a:ln w="12700">
            <a:solidFill>
              <a:srgbClr val="D51F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543153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41832" y="5349240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could create a false accusation.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382512" y="5367528"/>
            <a:ext cx="310896" cy="310896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82512" y="543153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830568" y="534924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view ≠ violation; preserve source, supervisor reason and audit.</a:t>
            </a:r>
            <a:endParaRPr lang="en-US" sz="1130" dirty="0"/>
          </a:p>
        </p:txBody>
      </p:sp>
      <p:sp>
        <p:nvSpPr>
          <p:cNvPr id="72" name="Shape 70"/>
          <p:cNvSpPr/>
          <p:nvPr/>
        </p:nvSpPr>
        <p:spPr>
          <a:xfrm>
            <a:off x="310896" y="36576"/>
            <a:ext cx="1307592" cy="85953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8064A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768" y="28346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NiyamLens</a:t>
            </a:r>
            <a:endParaRPr lang="en-US" sz="1250" dirty="0"/>
          </a:p>
        </p:txBody>
      </p:sp>
      <p:pic>
        <p:nvPicPr>
          <p:cNvPr id="74" name="Image 0" descr="C:\Users\duvvu\Documents\ChatGPT\SIH 2026\niyamlens\docs\sih-template-assets\sih-2026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18288"/>
            <a:ext cx="2267712" cy="886968"/>
          </a:xfrm>
          <a:prstGeom prst="rect">
            <a:avLst/>
          </a:prstGeom>
        </p:spPr>
      </p:pic>
      <p:sp>
        <p:nvSpPr>
          <p:cNvPr id="75" name="Text 72"/>
          <p:cNvSpPr/>
          <p:nvPr/>
        </p:nvSpPr>
        <p:spPr>
          <a:xfrm>
            <a:off x="1828800" y="73152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76" name="Shape 7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78B8"/>
          </a:solidFill>
          <a:ln w="12700">
            <a:solidFill>
              <a:srgbClr val="0B78B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840480" y="64830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78" name="Text 75"/>
          <p:cNvSpPr/>
          <p:nvPr/>
        </p:nvSpPr>
        <p:spPr>
          <a:xfrm>
            <a:off x="11274552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73152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78B8"/>
          </a:solidFill>
          <a:ln w="12700">
            <a:solidFill>
              <a:srgbClr val="0B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64830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9184" y="932688"/>
            <a:ext cx="5815584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5F6A70"/>
            </a:solidFill>
            <a:prstDash val="solid"/>
          </a:ln>
        </p:spPr>
      </p:sp>
      <p:pic>
        <p:nvPicPr>
          <p:cNvPr id="7" name="Image 0" descr="C:\Users\duvvu\Documents\ChatGPT\SIH 2026\niyamlens\qa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69848"/>
            <a:ext cx="5559552" cy="3867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4709160"/>
            <a:ext cx="5212080" cy="411480"/>
          </a:xfrm>
          <a:prstGeom prst="roundRect">
            <a:avLst/>
          </a:prstGeom>
          <a:solidFill>
            <a:srgbClr val="E7F2FA"/>
          </a:solidFill>
          <a:ln w="10160">
            <a:solidFill>
              <a:srgbClr val="235A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4800600"/>
            <a:ext cx="4956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35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record links image, declaration, geometry, rule and human disposition.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6400800" y="932688"/>
            <a:ext cx="24963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47104" y="1069848"/>
            <a:ext cx="347472" cy="347472"/>
          </a:xfrm>
          <a:prstGeom prst="ellipse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47104" y="11612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7004304" y="107899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38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6565392" y="1508760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triage</a:t>
            </a:r>
            <a:endParaRPr lang="en-US" sz="1530" dirty="0"/>
          </a:p>
        </p:txBody>
      </p:sp>
      <p:sp>
        <p:nvSpPr>
          <p:cNvPr id="15" name="Text 12"/>
          <p:cNvSpPr/>
          <p:nvPr/>
        </p:nvSpPr>
        <p:spPr>
          <a:xfrm>
            <a:off x="6565392" y="1856232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capture, grounded fields and a one-click evidence packet.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9180576" y="932688"/>
            <a:ext cx="24963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26880" y="1069848"/>
            <a:ext cx="347472" cy="347472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11612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9784080" y="107899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35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9345168" y="1508760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Reviewable decisions</a:t>
            </a:r>
            <a:endParaRPr lang="en-US" sz="1530" dirty="0"/>
          </a:p>
        </p:txBody>
      </p:sp>
      <p:sp>
        <p:nvSpPr>
          <p:cNvPr id="21" name="Text 18"/>
          <p:cNvSpPr/>
          <p:nvPr/>
        </p:nvSpPr>
        <p:spPr>
          <a:xfrm>
            <a:off x="9345168" y="1856232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Reason-required disposition with the automated result preserved.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400800" y="2743200"/>
            <a:ext cx="24963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47104" y="2880360"/>
            <a:ext cx="347472" cy="3474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47104" y="29718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7004304" y="288950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/ BUSINESS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6565392" y="3319272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findings</a:t>
            </a:r>
            <a:endParaRPr lang="en-US" sz="1530" dirty="0"/>
          </a:p>
        </p:txBody>
      </p:sp>
      <p:sp>
        <p:nvSpPr>
          <p:cNvPr id="27" name="Text 24"/>
          <p:cNvSpPr/>
          <p:nvPr/>
        </p:nvSpPr>
        <p:spPr>
          <a:xfrm>
            <a:off x="6565392" y="3666744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what is missing, uncertain, exempt or outside the current scope.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9180576" y="2743200"/>
            <a:ext cx="24963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1F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26880" y="2880360"/>
            <a:ext cx="347472" cy="347472"/>
          </a:xfrm>
          <a:prstGeom prst="ellipse">
            <a:avLst/>
          </a:prstGeom>
          <a:solidFill>
            <a:srgbClr val="D51F26"/>
          </a:solidFill>
          <a:ln w="12700">
            <a:solidFill>
              <a:srgbClr val="D51F2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26880" y="29718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9784080" y="288950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D5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9345168" y="3319272"/>
            <a:ext cx="2148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visibility</a:t>
            </a:r>
            <a:endParaRPr lang="en-US" sz="1530" dirty="0"/>
          </a:p>
        </p:txBody>
      </p:sp>
      <p:sp>
        <p:nvSpPr>
          <p:cNvPr id="33" name="Text 30"/>
          <p:cNvSpPr/>
          <p:nvPr/>
        </p:nvSpPr>
        <p:spPr>
          <a:xfrm>
            <a:off x="9345168" y="3666744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register, status dashboard and labelled validation workflow.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6400800" y="4626864"/>
            <a:ext cx="5276088" cy="1097280"/>
          </a:xfrm>
          <a:prstGeom prst="roundRect">
            <a:avLst/>
          </a:prstGeom>
          <a:solidFill>
            <a:srgbClr val="EFF2F3"/>
          </a:solidFill>
          <a:ln w="12700">
            <a:solidFill>
              <a:srgbClr val="5F6A7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20256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38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970" dirty="0"/>
          </a:p>
        </p:txBody>
      </p:sp>
      <p:sp>
        <p:nvSpPr>
          <p:cNvPr id="36" name="Text 33"/>
          <p:cNvSpPr/>
          <p:nvPr/>
        </p:nvSpPr>
        <p:spPr>
          <a:xfrm>
            <a:off x="7488936" y="480060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Fairer, transparent inspection</a:t>
            </a:r>
            <a:endParaRPr lang="en-US" sz="920" dirty="0"/>
          </a:p>
        </p:txBody>
      </p:sp>
      <p:sp>
        <p:nvSpPr>
          <p:cNvPr id="37" name="Text 34"/>
          <p:cNvSpPr/>
          <p:nvPr/>
        </p:nvSpPr>
        <p:spPr>
          <a:xfrm>
            <a:off x="9198864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235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970" dirty="0"/>
          </a:p>
        </p:txBody>
      </p:sp>
      <p:sp>
        <p:nvSpPr>
          <p:cNvPr id="38" name="Text 35"/>
          <p:cNvSpPr/>
          <p:nvPr/>
        </p:nvSpPr>
        <p:spPr>
          <a:xfrm>
            <a:off x="10067544" y="480060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repetitive manual collation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6620256" y="51937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38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970" dirty="0"/>
          </a:p>
        </p:txBody>
      </p:sp>
      <p:sp>
        <p:nvSpPr>
          <p:cNvPr id="40" name="Text 37"/>
          <p:cNvSpPr/>
          <p:nvPr/>
        </p:nvSpPr>
        <p:spPr>
          <a:xfrm>
            <a:off x="7488936" y="519379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evidence at scale</a:t>
            </a:r>
            <a:endParaRPr lang="en-US" sz="920" dirty="0"/>
          </a:p>
        </p:txBody>
      </p:sp>
      <p:sp>
        <p:nvSpPr>
          <p:cNvPr id="41" name="Text 38"/>
          <p:cNvSpPr/>
          <p:nvPr/>
        </p:nvSpPr>
        <p:spPr>
          <a:xfrm>
            <a:off x="9198864" y="51937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235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970" dirty="0"/>
          </a:p>
        </p:txBody>
      </p:sp>
      <p:sp>
        <p:nvSpPr>
          <p:cNvPr id="42" name="Text 39"/>
          <p:cNvSpPr/>
          <p:nvPr/>
        </p:nvSpPr>
        <p:spPr>
          <a:xfrm>
            <a:off x="10067544" y="519379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authority stays explicit</a:t>
            </a:r>
            <a:endParaRPr lang="en-US" sz="920" dirty="0"/>
          </a:p>
        </p:txBody>
      </p:sp>
      <p:sp>
        <p:nvSpPr>
          <p:cNvPr id="43" name="Text 40"/>
          <p:cNvSpPr/>
          <p:nvPr/>
        </p:nvSpPr>
        <p:spPr>
          <a:xfrm>
            <a:off x="457200" y="59893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“trust the dashboard” to “inspect the source, rule, measurement and audit trail.”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10896" y="36576"/>
            <a:ext cx="1307592" cy="85953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8064A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29768" y="28346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NiyamLens</a:t>
            </a:r>
            <a:endParaRPr lang="en-US" sz="1250" dirty="0"/>
          </a:p>
        </p:txBody>
      </p:sp>
      <p:pic>
        <p:nvPicPr>
          <p:cNvPr id="46" name="Image 1" descr="C:\Users\duvvu\Documents\ChatGPT\SIH 2026\niyamlens\docs\sih-template-assets\sih-2026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18288"/>
            <a:ext cx="2267712" cy="886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73152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78B8"/>
          </a:solidFill>
          <a:ln w="12700">
            <a:solidFill>
              <a:srgbClr val="0B7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64830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74552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2139696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35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69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5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/ 54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" y="1399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2724912" y="978408"/>
            <a:ext cx="2139696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8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069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8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34640" y="1399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PHOTOS • 10 PRODUCTS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5065776" y="978408"/>
            <a:ext cx="2139696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35A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069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5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61.1%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75504" y="1399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TOKEN RECALL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406640" y="978408"/>
            <a:ext cx="2139696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1069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16368" y="1399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DEEP-SCAN TOKEN RECALL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747504" y="978408"/>
            <a:ext cx="2139696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1F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57232" y="1069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5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93.7%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57232" y="1399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PRECOMPUTED CLOUD BASELINE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475488" y="182880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i="1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expected tokens • no manual corrections • reliability and engine confidence are not accuracy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65760" y="2176272"/>
            <a:ext cx="7013448" cy="3867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2368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5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/ PRIMARY SOURCES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1792" y="2788920"/>
            <a:ext cx="283464" cy="28346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852928"/>
            <a:ext cx="283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42416" y="2761488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235A8B"/>
                </a:solidFill>
                <a:uFill>
                  <a:solidFill>
                    <a:srgbClr val="235A8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Legal Metrology (Packaged Commodities) Rules, 2011 + amendments</a:t>
            </a:r>
            <a:pPr indent="0" marL="0">
              <a:buNone/>
            </a:pPr>
            <a:r>
              <a:rPr lang="en-US" sz="10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Department of Consumer Affairs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" y="3264408"/>
            <a:ext cx="283464" cy="28346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328416"/>
            <a:ext cx="283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42416" y="3236976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235A8B"/>
                </a:solidFill>
                <a:uFill>
                  <a:solidFill>
                    <a:srgbClr val="235A8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Legal Metrology Acts &amp; Rules index</a:t>
            </a:r>
            <a:pPr indent="0" marL="0">
              <a:buNone/>
            </a:pPr>
            <a:r>
              <a:rPr lang="en-US" sz="10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Department of Consumer Affairs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" y="3739896"/>
            <a:ext cx="283464" cy="28346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803904"/>
            <a:ext cx="283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42416" y="371246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235A8B"/>
                </a:solidFill>
                <a:uFill>
                  <a:solidFill>
                    <a:srgbClr val="235A8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Packaged Commodities FAQ</a:t>
            </a:r>
            <a:pPr indent="0" marL="0">
              <a:buNone/>
            </a:pPr>
            <a:r>
              <a:rPr lang="en-US" sz="10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Department of Consumer Affairs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" y="4215384"/>
            <a:ext cx="283464" cy="28346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4279392"/>
            <a:ext cx="283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42416" y="418795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235A8B"/>
                </a:solidFill>
                <a:uFill>
                  <a:solidFill>
                    <a:srgbClr val="235A8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product-image data and API</a:t>
            </a:r>
            <a:pPr indent="0" marL="0">
              <a:buNone/>
            </a:pPr>
            <a:r>
              <a:rPr lang="en-US" sz="10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Open Food Facts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" y="4690872"/>
            <a:ext cx="283464" cy="28346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754880"/>
            <a:ext cx="283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42416" y="466344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235A8B"/>
                </a:solidFill>
                <a:uFill>
                  <a:solidFill>
                    <a:srgbClr val="235A8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 text detection and request format</a:t>
            </a:r>
            <a:pPr indent="0" marL="0">
              <a:buNone/>
            </a:pPr>
            <a:r>
              <a:rPr lang="en-US" sz="10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Google Cloud Vision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" y="5166360"/>
            <a:ext cx="283464" cy="283464"/>
          </a:xfrm>
          <a:prstGeom prst="ellipse">
            <a:avLst/>
          </a:prstGeom>
          <a:solidFill>
            <a:srgbClr val="235A8B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5230368"/>
            <a:ext cx="283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42416" y="5138928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235A8B"/>
                </a:solidFill>
                <a:uFill>
                  <a:solidFill>
                    <a:srgbClr val="235A8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Prototype, test reports and architecture</a:t>
            </a:r>
            <a:pPr indent="0" marL="0">
              <a:buNone/>
            </a:pPr>
            <a:r>
              <a:rPr lang="en-US" sz="1050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NiyamLens repository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07808" y="2176272"/>
            <a:ext cx="4187952" cy="3867912"/>
          </a:xfrm>
          <a:prstGeom prst="roundRect">
            <a:avLst/>
          </a:prstGeom>
          <a:solidFill>
            <a:srgbClr val="E7F2FA"/>
          </a:solidFill>
          <a:ln w="12700">
            <a:solidFill>
              <a:srgbClr val="235A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91272" y="236829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5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ENFORCEMENT USE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891272" y="2907792"/>
            <a:ext cx="347472" cy="3474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91272" y="29992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8394192" y="2889504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a 250+ package, package-level test split with dual review.</a:t>
            </a:r>
            <a:endParaRPr lang="en-US" sz="1070" dirty="0"/>
          </a:p>
        </p:txBody>
      </p:sp>
      <p:sp>
        <p:nvSpPr>
          <p:cNvPr id="47" name="Shape 45"/>
          <p:cNvSpPr/>
          <p:nvPr/>
        </p:nvSpPr>
        <p:spPr>
          <a:xfrm>
            <a:off x="7891272" y="3566160"/>
            <a:ext cx="347472" cy="3474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91272" y="36576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8394192" y="35478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amendment-complete Legal Metrology approval for each rule profile.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7891272" y="4224528"/>
            <a:ext cx="347472" cy="3474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91272" y="431596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8394192" y="42062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Laboratory-validate phone, marker and curved-panel measurement error.</a:t>
            </a:r>
            <a:endParaRPr lang="en-US" sz="1070" dirty="0"/>
          </a:p>
        </p:txBody>
      </p:sp>
      <p:sp>
        <p:nvSpPr>
          <p:cNvPr id="53" name="Shape 51"/>
          <p:cNvSpPr/>
          <p:nvPr/>
        </p:nvSpPr>
        <p:spPr>
          <a:xfrm>
            <a:off x="7891272" y="4882896"/>
            <a:ext cx="347472" cy="3474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91272" y="49743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8394192" y="486460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departmental SSO, shared storage, retention and audit anchoring.</a:t>
            </a:r>
            <a:endParaRPr lang="en-US" sz="1070" dirty="0"/>
          </a:p>
        </p:txBody>
      </p:sp>
      <p:sp>
        <p:nvSpPr>
          <p:cNvPr id="56" name="Shape 54"/>
          <p:cNvSpPr/>
          <p:nvPr/>
        </p:nvSpPr>
        <p:spPr>
          <a:xfrm>
            <a:off x="7900416" y="5422392"/>
            <a:ext cx="3602736" cy="411480"/>
          </a:xfrm>
          <a:prstGeom prst="roundRect">
            <a:avLst/>
          </a:prstGeom>
          <a:solidFill>
            <a:srgbClr val="138B49"/>
          </a:solidFill>
          <a:ln w="12700">
            <a:solidFill>
              <a:srgbClr val="138B4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28432" y="550468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CONDITION: survive the judge’s unseen packet—honestly.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475488" y="6099048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measurements show progress; they are not a field-accuracy or enforcement claim.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0896" y="36576"/>
            <a:ext cx="1307592" cy="85953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8064A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" y="28346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NiyamLens</a:t>
            </a:r>
            <a:endParaRPr lang="en-US" sz="1250" dirty="0"/>
          </a:p>
        </p:txBody>
      </p:sp>
      <p:pic>
        <p:nvPicPr>
          <p:cNvPr id="61" name="Image 0" descr="C:\Users\duvvu\Documents\ChatGPT\SIH 2026\niyamlens\docs\sih-template-assets\sih-2026-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18288"/>
            <a:ext cx="2267712" cy="886968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1828800" y="73152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63" name="Shape 60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78B8"/>
          </a:solidFill>
          <a:ln w="12700">
            <a:solidFill>
              <a:srgbClr val="0B78B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840480" y="64830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65" name="Text 62"/>
          <p:cNvSpPr/>
          <p:nvPr/>
        </p:nvSpPr>
        <p:spPr>
          <a:xfrm>
            <a:off x="11274552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NiyamLens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NiyamLens — SIH26034</dc:title>
  <dc:subject>SIH 2026 idea submission for SIH26034</dc:subject>
  <dc:creator>Team NiyamLens</dc:creator>
  <cp:lastModifiedBy>Team NiyamLens</cp:lastModifiedBy>
  <cp:revision>1</cp:revision>
  <dcterms:created xsi:type="dcterms:W3CDTF">2026-09-03T06:54:52Z</dcterms:created>
  <dcterms:modified xsi:type="dcterms:W3CDTF">2026-09-03T06:54:52Z</dcterms:modified>
</cp:coreProperties>
</file>